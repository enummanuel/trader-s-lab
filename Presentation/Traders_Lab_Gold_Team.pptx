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2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8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5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70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3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6746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1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3" y="459255"/>
            <a:ext cx="5658468" cy="2691359"/>
          </a:xfrm>
        </p:spPr>
        <p:txBody>
          <a:bodyPr/>
          <a:lstStyle>
            <a:lvl1pPr>
              <a:defRPr sz="34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5" y="516600"/>
            <a:ext cx="2593815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9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6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2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132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5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100" y="4463845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05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1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6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33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5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1" y="4311805"/>
            <a:ext cx="8585337" cy="2368300"/>
          </a:xfrm>
        </p:spPr>
        <p:txBody>
          <a:bodyPr anchor="b">
            <a:normAutofit/>
          </a:bodyPr>
          <a:lstStyle>
            <a:lvl1pPr>
              <a:defRPr sz="5175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9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41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8"/>
            <a:ext cx="6433267" cy="1962149"/>
          </a:xfrm>
        </p:spPr>
        <p:txBody>
          <a:bodyPr anchor="t">
            <a:normAutofit/>
          </a:bodyPr>
          <a:lstStyle>
            <a:lvl1pPr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1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2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342900" indent="-342900"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1pPr>
            <a:lvl2pPr marL="428625" indent="-257175"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2pPr>
            <a:lvl3pPr marL="600075" indent="-257175"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580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3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7" cy="2092272"/>
          </a:xfrm>
        </p:spPr>
        <p:txBody>
          <a:bodyPr anchor="t">
            <a:normAutofit/>
          </a:bodyPr>
          <a:lstStyle>
            <a:lvl1pPr>
              <a:defRPr sz="5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2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1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9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5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9" y="3481715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257175" indent="-257175"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1pPr>
            <a:lvl2pPr marL="428625" indent="-257175"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2pPr>
            <a:lvl3pPr marL="600075" indent="-257175"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050" dirty="0">
                <a:solidFill>
                  <a:schemeClr val="tx1"/>
                </a:solidFill>
              </a:defRPr>
            </a:lvl5pPr>
          </a:lstStyle>
          <a:p>
            <a:pPr marL="171450" lvl="0" indent="-171450"/>
            <a:r>
              <a:rPr lang="en-US"/>
              <a:t>Click to edit Master text styles</a:t>
            </a:r>
          </a:p>
          <a:p>
            <a:pPr marL="171450" lvl="1" indent="-171450"/>
            <a:r>
              <a:rPr lang="en-US"/>
              <a:t>Second level</a:t>
            </a:r>
          </a:p>
          <a:p>
            <a:pPr marL="171450" lvl="2" indent="-171450"/>
            <a:r>
              <a:rPr lang="en-US"/>
              <a:t>Third level</a:t>
            </a:r>
          </a:p>
          <a:p>
            <a:pPr marL="171450" lvl="3" indent="-171450"/>
            <a:r>
              <a:rPr lang="en-US"/>
              <a:t>Fourth level</a:t>
            </a:r>
          </a:p>
          <a:p>
            <a:pPr marL="171450" lvl="4" indent="-17145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940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2" y="1"/>
            <a:ext cx="588125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2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8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40563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886712"/>
            <a:ext cx="3507989" cy="3233928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1" y="208394"/>
            <a:ext cx="253211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1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9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842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5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3" y="215823"/>
            <a:ext cx="549272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97592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1115568"/>
            <a:ext cx="4000500" cy="1352516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1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5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9" y="216280"/>
            <a:ext cx="551113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3" cy="1352516"/>
          </a:xfrm>
        </p:spPr>
        <p:txBody>
          <a:bodyPr>
            <a:normAutofit/>
          </a:bodyPr>
          <a:lstStyle>
            <a:lvl1pPr marL="214313" indent="-214313">
              <a:buFont typeface="Arial" panose="020B0604020202020204" pitchFamily="34" charset="0"/>
              <a:buNone/>
              <a:defRPr sz="1050"/>
            </a:lvl1pPr>
            <a:lvl2pPr marL="385763" indent="-214313">
              <a:buFont typeface="Arial" panose="020B0604020202020204" pitchFamily="34" charset="0"/>
              <a:buNone/>
              <a:defRPr sz="1050"/>
            </a:lvl2pPr>
            <a:lvl3pPr marL="557213" indent="-214313">
              <a:buFont typeface="Arial" panose="020B0604020202020204" pitchFamily="34" charset="0"/>
              <a:buNone/>
              <a:defRPr sz="1050"/>
            </a:lvl3pPr>
            <a:lvl4pPr marL="642938" indent="-128588">
              <a:buFont typeface="Arial" panose="020B0604020202020204" pitchFamily="34" charset="0"/>
              <a:buNone/>
              <a:defRPr sz="1050"/>
            </a:lvl4pPr>
            <a:lvl5pPr marL="814388" indent="-128588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11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67205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70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8" y="2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1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523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41" y="1115570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9" y="219456"/>
            <a:ext cx="293370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6" y="20908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41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877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8" y="1115570"/>
            <a:ext cx="3607671" cy="3170545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10" y="214858"/>
            <a:ext cx="1586711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1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10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50"/>
            </a:lvl1pPr>
            <a:lvl2pPr marL="171450" indent="0">
              <a:buFont typeface="Arial" panose="020B0604020202020204" pitchFamily="34" charset="0"/>
              <a:buNone/>
              <a:defRPr sz="1050"/>
            </a:lvl2pPr>
            <a:lvl3pPr marL="342900" indent="0">
              <a:buFont typeface="Arial" panose="020B0604020202020204" pitchFamily="34" charset="0"/>
              <a:buNone/>
              <a:defRPr sz="1050"/>
            </a:lvl3pPr>
            <a:lvl4pPr marL="514350" indent="0">
              <a:buFont typeface="Arial" panose="020B0604020202020204" pitchFamily="34" charset="0"/>
              <a:buNone/>
              <a:defRPr sz="1050"/>
            </a:lvl4pPr>
            <a:lvl5pPr marL="6858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81" y="3500205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373365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3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1" y="2865290"/>
            <a:ext cx="1967345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865290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1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50"/>
            </a:lvl1pPr>
            <a:lvl2pPr marL="171450" indent="0">
              <a:buFont typeface="Arial" panose="020B0604020202020204" pitchFamily="34" charset="0"/>
              <a:buNone/>
              <a:defRPr sz="1050"/>
            </a:lvl2pPr>
            <a:lvl3pPr marL="342900" indent="0">
              <a:buFont typeface="Arial" panose="020B0604020202020204" pitchFamily="34" charset="0"/>
              <a:buNone/>
              <a:defRPr sz="1050"/>
            </a:lvl3pPr>
            <a:lvl4pPr marL="514350" indent="0">
              <a:buFont typeface="Arial" panose="020B0604020202020204" pitchFamily="34" charset="0"/>
              <a:buNone/>
              <a:defRPr sz="1050"/>
            </a:lvl4pPr>
            <a:lvl5pPr marL="6858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4696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1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20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1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938627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3" y="2"/>
            <a:ext cx="4836787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0532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2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1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" y="3017520"/>
            <a:ext cx="3417903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3" y="1104903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930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1" y="5082379"/>
            <a:ext cx="4000500" cy="1169230"/>
          </a:xfrm>
        </p:spPr>
        <p:txBody>
          <a:bodyPr anchor="b">
            <a:normAutofit/>
          </a:bodyPr>
          <a:lstStyle>
            <a:lvl1pPr>
              <a:defRPr sz="1500" spc="-38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90" y="1063627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195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2939812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2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100" y="2885608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4500" b="0" spc="-38" baseline="0">
                <a:solidFill>
                  <a:schemeClr val="tx1"/>
                </a:solidFill>
              </a:defRPr>
            </a:lvl1pPr>
            <a:lvl2pPr marL="171450" indent="0">
              <a:lnSpc>
                <a:spcPct val="85000"/>
              </a:lnSpc>
              <a:buNone/>
              <a:defRPr sz="3300" b="0" spc="-38" baseline="0">
                <a:solidFill>
                  <a:schemeClr val="tx1"/>
                </a:solidFill>
              </a:defRPr>
            </a:lvl2pPr>
            <a:lvl3pPr marL="342900" indent="0">
              <a:lnSpc>
                <a:spcPct val="85000"/>
              </a:lnSpc>
              <a:buNone/>
              <a:defRPr sz="3000" b="0" spc="-38" baseline="0">
                <a:solidFill>
                  <a:schemeClr val="tx1"/>
                </a:solidFill>
              </a:defRPr>
            </a:lvl3pPr>
            <a:lvl4pPr marL="514350" indent="0">
              <a:lnSpc>
                <a:spcPct val="85000"/>
              </a:lnSpc>
              <a:buNone/>
              <a:defRPr sz="2700" b="0" spc="-38" baseline="0">
                <a:solidFill>
                  <a:schemeClr val="tx1"/>
                </a:solidFill>
              </a:defRPr>
            </a:lvl4pPr>
            <a:lvl5pPr marL="685800" indent="0">
              <a:lnSpc>
                <a:spcPct val="85000"/>
              </a:lnSpc>
              <a:buNone/>
              <a:defRPr sz="2400" b="0" spc="-38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21689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1" y="4874220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050" b="0" cap="all" spc="75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1" y="1856096"/>
            <a:ext cx="8506567" cy="2855388"/>
          </a:xfrm>
        </p:spPr>
        <p:txBody>
          <a:bodyPr anchor="ctr">
            <a:normAutofit/>
          </a:bodyPr>
          <a:lstStyle>
            <a:lvl1pPr marL="123444" indent="-123444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750" spc="-38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271382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70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1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5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11779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6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5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1" y="1675614"/>
            <a:ext cx="4967695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4466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1113512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9173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1595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4" y="758952"/>
            <a:ext cx="7609668" cy="1734866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1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32483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3" y="2704772"/>
            <a:ext cx="5465660" cy="2733384"/>
          </a:xfrm>
        </p:spPr>
        <p:txBody>
          <a:bodyPr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1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1660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3" y="1113512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8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525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525" cap="all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8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525" cap="all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922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250" b="0" kern="1200" spc="-83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52" userDrawn="1">
          <p15:clr>
            <a:srgbClr val="F26B43"/>
          </p15:clr>
        </p15:guide>
        <p15:guide id="4" orient="horz" pos="264" userDrawn="1">
          <p15:clr>
            <a:srgbClr val="F26B43"/>
          </p15:clr>
        </p15:guide>
        <p15:guide id="5" pos="9888" userDrawn="1">
          <p15:clr>
            <a:srgbClr val="F26B43"/>
          </p15:clr>
        </p15:guide>
        <p15:guide id="12" pos="6176" userDrawn="1">
          <p15:clr>
            <a:srgbClr val="F26B43"/>
          </p15:clr>
        </p15:guide>
        <p15:guide id="13" pos="7392" userDrawn="1">
          <p15:clr>
            <a:srgbClr val="F26B43"/>
          </p15:clr>
        </p15:guide>
        <p15:guide id="26" pos="3712" userDrawn="1">
          <p15:clr>
            <a:srgbClr val="F26B43"/>
          </p15:clr>
        </p15:guide>
        <p15:guide id="27" pos="4064" userDrawn="1">
          <p15:clr>
            <a:srgbClr val="F26B43"/>
          </p15:clr>
        </p15:guide>
        <p15:guide id="29" pos="5280" userDrawn="1">
          <p15:clr>
            <a:srgbClr val="F26B43"/>
          </p15:clr>
        </p15:guide>
        <p15:guide id="30" pos="1568" userDrawn="1">
          <p15:clr>
            <a:srgbClr val="F26B43"/>
          </p15:clr>
        </p15:guide>
        <p15:guide id="31" pos="1216" userDrawn="1">
          <p15:clr>
            <a:srgbClr val="F26B43"/>
          </p15:clr>
        </p15:guide>
        <p15:guide id="32" pos="4928" userDrawn="1">
          <p15:clr>
            <a:srgbClr val="F26B43"/>
          </p15:clr>
        </p15:guide>
        <p15:guide id="33" pos="2464" userDrawn="1">
          <p15:clr>
            <a:srgbClr val="F26B43"/>
          </p15:clr>
        </p15:guide>
        <p15:guide id="34" pos="2816" userDrawn="1">
          <p15:clr>
            <a:srgbClr val="F26B43"/>
          </p15:clr>
        </p15:guide>
        <p15:guide id="36" pos="8704" userDrawn="1">
          <p15:clr>
            <a:srgbClr val="F26B43"/>
          </p15:clr>
        </p15:guide>
        <p15:guide id="37" pos="8992" userDrawn="1">
          <p15:clr>
            <a:srgbClr val="F26B43"/>
          </p15:clr>
        </p15:guide>
        <p15:guide id="42" orient="horz" pos="3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Traders Lab — Gold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XAUUSD Backtesting Review | 2024 + 2025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What the team researched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Instrument: XAUUSD (Gold)</a:t>
            </a:r>
          </a:p>
          <a:p>
            <a:pPr>
              <a:defRPr sz="2000"/>
            </a:pPr>
            <a:r>
              <a:t>2024 log: 84 recorded entries</a:t>
            </a:r>
          </a:p>
          <a:p>
            <a:pPr>
              <a:defRPr sz="2000"/>
            </a:pPr>
            <a:r>
              <a:t>2025 log: 37 recorded entries</a:t>
            </a:r>
          </a:p>
          <a:p>
            <a:pPr>
              <a:defRPr sz="2000"/>
            </a:pPr>
            <a:r>
              <a:t>Tracked fields: direction, entry type, POI, outcome, RR, session and timeframe</a:t>
            </a:r>
          </a:p>
          <a:p>
            <a:pPr>
              <a:defRPr sz="2000"/>
            </a:pPr>
            <a:r>
              <a:t>Primary setup types recorded: Order Block (OB) and Breaker Block (BB)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Raw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279126"/>
              </p:ext>
            </p:extLst>
          </p:nvPr>
        </p:nvGraphicFramePr>
        <p:xfrm>
          <a:off x="1981200" y="1494502"/>
          <a:ext cx="8229601" cy="4311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56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7798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MISS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No 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798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798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798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Combined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72641" y="5943601"/>
            <a:ext cx="503535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000"/>
              <a:t>TP/SL win rate: 64.5% in 2024; 46.2% in 2025; 59.1% across the combined TP/SL-resolved sample.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2024: setup breakdown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356712"/>
              </p:ext>
            </p:extLst>
          </p:nvPr>
        </p:nvGraphicFramePr>
        <p:xfrm>
          <a:off x="1981200" y="1750143"/>
          <a:ext cx="8229600" cy="3948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456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TP/SL 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TP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39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Order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65.8%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39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Breaker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62.5%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339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Continuation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63.0%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339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Reversal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75.0%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2024: timeframe &amp; session snapshot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970723"/>
              </p:ext>
            </p:extLst>
          </p:nvPr>
        </p:nvGraphicFramePr>
        <p:xfrm>
          <a:off x="1981200" y="1848466"/>
          <a:ext cx="8229600" cy="3957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77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TP/SL 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TP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77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68.9%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77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15m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57.1%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77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37.5%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77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77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New York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72.4%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77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77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44.4%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77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Sydney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25.0%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What the data gives us to investigate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2024 has a much stronger resolved TP/SL rate than the 2025 sample.</a:t>
            </a:r>
          </a:p>
          <a:p>
            <a:pPr>
              <a:defRPr sz="2000"/>
            </a:pPr>
            <a:r>
              <a:rPr dirty="0"/>
              <a:t>OB and BB are relatively close in 2024 on resolved TP/SL outcomes.</a:t>
            </a:r>
          </a:p>
          <a:p>
            <a:pPr>
              <a:defRPr sz="2000"/>
            </a:pPr>
            <a:r>
              <a:rPr dirty="0"/>
              <a:t>30m is the largest timeframe sample and has the highest resolved TP/SL rate among the main timeframes.</a:t>
            </a:r>
          </a:p>
          <a:p>
            <a:pPr>
              <a:defRPr sz="2000"/>
            </a:pPr>
            <a:r>
              <a:rPr dirty="0"/>
              <a:t>New York and London have the largest session samples and the highest resolved TP/SL rates in 2024.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Traders Lab — EURUSD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EURUSD Backtesting Review | January–February 2024 sample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Research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Instrument: EURUSD</a:t>
            </a:r>
          </a:p>
          <a:p>
            <a:pPr>
              <a:defRPr sz="2000"/>
            </a:pPr>
            <a:r>
              <a:t>The workbook contains 59 dated rows after the header; 55 contain a setup.</a:t>
            </a:r>
          </a:p>
          <a:p>
            <a:pPr>
              <a:defRPr sz="2000"/>
            </a:pPr>
            <a:r>
              <a:t>Setup records are concentrated in January–February 2024.</a:t>
            </a:r>
          </a:p>
          <a:p>
            <a:pPr>
              <a:defRPr sz="2000"/>
            </a:pPr>
            <a:r>
              <a:t>Setup type is overwhelmingly OB: 54 OB records and 1 BB record among setup rows.</a:t>
            </a:r>
          </a:p>
          <a:p>
            <a:pPr>
              <a:defRPr sz="2000"/>
            </a:pPr>
            <a:r>
              <a:t>Fields include daily bias, setup type, direction, risk:reward and result.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140322"/>
              </p:ext>
            </p:extLst>
          </p:nvPr>
        </p:nvGraphicFramePr>
        <p:xfrm>
          <a:off x="1981200" y="1543569"/>
          <a:ext cx="8229600" cy="4388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697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97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Setup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97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697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697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697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Resolved win/loss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697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Resolved win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34.1%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Daily bias vs direction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947650"/>
              </p:ext>
            </p:extLst>
          </p:nvPr>
        </p:nvGraphicFramePr>
        <p:xfrm>
          <a:off x="1981200" y="1551607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Win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Bias-aligned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35.9%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Counter to recorded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20.0%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Risk:Reward</a:t>
            </a:r>
            <a:r>
              <a:rPr dirty="0"/>
              <a:t>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Recorded RR targets in resolved trades range from 1:5 to 1:46.</a:t>
            </a:r>
          </a:p>
          <a:p>
            <a:pPr>
              <a:defRPr sz="2000"/>
            </a:pPr>
            <a:r>
              <a:t>Median recorded RR target is 1:8.</a:t>
            </a:r>
          </a:p>
          <a:p>
            <a:pPr>
              <a:defRPr sz="2000"/>
            </a:pPr>
            <a:r>
              <a:t>The sheet records target ratios, but does not consistently record realized R for each trade.</a:t>
            </a:r>
          </a:p>
          <a:p>
            <a:pPr>
              <a:defRPr sz="2000"/>
            </a:pPr>
            <a:r>
              <a:t>Therefore the listed RR should not be treated as achieved profit without additional execution/exit data.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stands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The sample is heavily OB-based, so it does not meaningfully compare OB vs BB.</a:t>
            </a:r>
          </a:p>
          <a:p>
            <a:pPr>
              <a:defRPr sz="2000"/>
            </a:pPr>
            <a:r>
              <a:rPr dirty="0"/>
              <a:t>There are 15 unresolved/no-result setup rows.</a:t>
            </a:r>
          </a:p>
          <a:p>
            <a:pPr>
              <a:defRPr sz="2000"/>
            </a:pPr>
            <a:r>
              <a:rPr dirty="0"/>
              <a:t>Most recorded trades are directionally aligned with the daily bias, but losses still dominate the resolved sample.</a:t>
            </a:r>
          </a:p>
          <a:p>
            <a:pPr>
              <a:defRPr sz="2000"/>
            </a:pPr>
            <a:r>
              <a:rPr dirty="0"/>
              <a:t>The huge RR targets make outcome definitions especially important: a future log must distinguish planned RR from achieved RR.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Traders Lab — GBPJPY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GBPJPY (GJ) Backtesting Review | 2024–2026 handwritten research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Research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Instrument: GBPJPY (GJ)</a:t>
            </a:r>
          </a:p>
          <a:p>
            <a:pPr>
              <a:defRPr sz="2000"/>
            </a:pPr>
            <a:r>
              <a:rPr dirty="0"/>
              <a:t>The research is handwritten and organized around HTF context, structural shifts, pullback areas and setup sequences.</a:t>
            </a:r>
          </a:p>
          <a:p>
            <a:pPr>
              <a:defRPr sz="2000"/>
            </a:pPr>
            <a:r>
              <a:rPr dirty="0"/>
              <a:t>2024–2025 notes summarize 21 setups.</a:t>
            </a:r>
          </a:p>
          <a:p>
            <a:pPr>
              <a:defRPr sz="2000"/>
            </a:pPr>
            <a:r>
              <a:rPr dirty="0"/>
              <a:t>2026 notes summarize 21 setups.</a:t>
            </a:r>
          </a:p>
          <a:p>
            <a:pPr>
              <a:defRPr sz="2000"/>
            </a:pPr>
            <a:r>
              <a:rPr dirty="0"/>
              <a:t>The notes emphasize how setups appear during transitions between HTF zones and structural shifts.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2024–2025 setup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485492"/>
              </p:ext>
            </p:extLst>
          </p:nvPr>
        </p:nvGraphicFramePr>
        <p:xfrm>
          <a:off x="1981200" y="1661652"/>
          <a:ext cx="8229600" cy="4311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089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Setups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Outcome 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OB/BB 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First move / R1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 miss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 OB / 3 BB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Return from R1 toward M/OS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 failed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 OB / 2 BB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Final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Outcome not fully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Included in 21 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16 OB / 5 BB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2026 setup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81200" y="1592826"/>
          <a:ext cx="8229600" cy="4213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5340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Setups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Outcome 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340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Initial daily pullback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 held, 1 failed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340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Continuation after confluence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 swept; 1 BB failed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340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Total reported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Structural story in the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2024–2025: HTF bullish context → weekly structure break → return to OS → reversal point → continuation toward an R1 zone.</a:t>
            </a:r>
          </a:p>
          <a:p>
            <a:pPr>
              <a:defRPr sz="2000"/>
            </a:pPr>
            <a:r>
              <a:t>After reaching the R1 zone, the notes describe a short-term shift and aggressive move back toward the lower area.</a:t>
            </a:r>
          </a:p>
          <a:p>
            <a:pPr>
              <a:defRPr sz="2000"/>
            </a:pPr>
            <a:r>
              <a:t>2026: HTF bullish context → two daily BOS to the upside → 4H setup area → multiple 1H entries.</a:t>
            </a:r>
          </a:p>
          <a:p>
            <a:pPr>
              <a:defRPr sz="2000"/>
            </a:pPr>
            <a:r>
              <a:t>The notes also document a counter-trend/downside phase after a major pullback.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stands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The GJ research is strongest at describing context and sequence, not standardized trade performance.</a:t>
            </a:r>
          </a:p>
          <a:p>
            <a:pPr>
              <a:defRPr sz="2000"/>
            </a:pPr>
            <a:r>
              <a:rPr dirty="0"/>
              <a:t>The team is already thinking in terms of HTF zone → structural shift → lower-timeframe execution.</a:t>
            </a:r>
          </a:p>
          <a:p>
            <a:pPr>
              <a:defRPr sz="2000"/>
            </a:pPr>
            <a:r>
              <a:rPr dirty="0"/>
              <a:t>Several setups cluster around major pullback / continuation areas rather than appearing randomly.</a:t>
            </a:r>
          </a:p>
          <a:p>
            <a:pPr>
              <a:defRPr sz="2000"/>
            </a:pPr>
            <a:r>
              <a:rPr dirty="0"/>
              <a:t>The next step is to turn the narrative into structured fields so the pattern can be tested.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Traders Lab — BTCUSD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Higher-Timeframe POI Selection Research | 2024–2026 log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Research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Sequence: Higher Timeframe → Daily → Medium Timeframe → POI → Confirmation → Execution.</a:t>
            </a:r>
          </a:p>
          <a:p>
            <a:pPr>
              <a:defRPr sz="2000"/>
            </a:pPr>
            <a:r>
              <a:t>Weekly levels establish key levels.</a:t>
            </a:r>
          </a:p>
          <a:p>
            <a:pPr>
              <a:defRPr sz="2000"/>
            </a:pPr>
            <a:r>
              <a:t>Daily levels refine the areas of interest.</a:t>
            </a:r>
          </a:p>
          <a:p>
            <a:pPr>
              <a:defRPr sz="2000"/>
            </a:pPr>
            <a:r>
              <a:t>Medium timeframe: 4H / 2H / 1H swing structure and POI.</a:t>
            </a:r>
          </a:p>
          <a:p>
            <a:pPr>
              <a:defRPr sz="2000"/>
            </a:pPr>
            <a:r>
              <a:t>The source defines seven POI criteria: A–G; imbalance (E) is optional.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Primary POI sample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061075"/>
              </p:ext>
            </p:extLst>
          </p:nvPr>
        </p:nvGraphicFramePr>
        <p:xfrm>
          <a:off x="1981200" y="1543174"/>
          <a:ext cx="8229600" cy="44004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309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POI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46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Order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46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Breaker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46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Rejection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46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46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Additional OB entries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Criteria frequency in the 32 primary POIs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81200" y="1838632"/>
          <a:ext cx="8229600" cy="3967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97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Met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97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 — Structure 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27/32 (84.4%)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97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 — Momentum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32/32 (100%)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97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 — Liquidity sweep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29/32 (90.6%)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97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 — Liquidity above/below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29/32 (90.6%)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97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 — Imbalance (optional)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25/32 (78.1%)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97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 — Unmitigated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29/32 (90.6%)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597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 — Closest to liquidity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31/32 (96.9%)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Important distinction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All 32 primary POIs are marked ✓ in the source.</a:t>
            </a:r>
          </a:p>
          <a:p>
            <a:pPr>
              <a:defRPr sz="2000"/>
            </a:pPr>
            <a:r>
              <a:rPr dirty="0"/>
              <a:t>That means the recorded POIs passed their documented selection criteria.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stands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Momentum appears in every one of the 32 primary POIs.</a:t>
            </a:r>
          </a:p>
          <a:p>
            <a:pPr>
              <a:defRPr sz="2000"/>
            </a:pPr>
            <a:r>
              <a:t>Closest-to-liquidity appears in 31 of 32.</a:t>
            </a:r>
          </a:p>
          <a:p>
            <a:pPr>
              <a:defRPr sz="2000"/>
            </a:pPr>
            <a:r>
              <a:t>Liquidity sweep, liquidity location and unmitigated status each appear in 29 of 32.</a:t>
            </a:r>
          </a:p>
          <a:p>
            <a:pPr>
              <a:defRPr sz="2000"/>
            </a:pPr>
            <a:r>
              <a:t>Imbalance is the least frequent criterion, and the source explicitly treats it as optional.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Traders Lab — GU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GBPUSD (GU) Backtesting Review | 2025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Research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Instrument: GBPUSD (GU)</a:t>
            </a:r>
          </a:p>
          <a:p>
            <a:pPr>
              <a:defRPr sz="2000"/>
            </a:pPr>
            <a:r>
              <a:t>2025 PDF records 66 explicit entry observations.</a:t>
            </a:r>
          </a:p>
          <a:p>
            <a:pPr>
              <a:defRPr sz="2000"/>
            </a:pPr>
            <a:r>
              <a:t>The research focuses on OB/BB occurrence, reversals, continuations, violations and misses.</a:t>
            </a:r>
          </a:p>
          <a:p>
            <a:pPr>
              <a:defRPr sz="2000"/>
            </a:pPr>
            <a:r>
              <a:t>March is explicitly described as a period where the market sold and did not really give an entry.</a:t>
            </a:r>
          </a:p>
          <a:p>
            <a:pPr>
              <a:defRPr sz="2000"/>
            </a:pPr>
            <a:r>
              <a:t>This is a setup-observation log, not a standardized TP/SL/RR database.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Raw observation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81200" y="1417638"/>
          <a:ext cx="8229600" cy="438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Total explicit entries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Order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Breaker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BB/OB mixed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Type 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Explicit violations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Explicit misses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Violation snapshot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81200" y="1651818"/>
          <a:ext cx="8229600" cy="415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092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Setup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Violations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Violation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92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92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41.4%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92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BB/OB mixed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92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Type unspecified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72641" y="5943601"/>
            <a:ext cx="426110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000"/>
              <a:t>These are descriptive rates from the 2025 observation log, not trade win rates.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Market-behavior notes recorded by 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Some BBs were later violated.</a:t>
            </a:r>
          </a:p>
          <a:p>
            <a:pPr>
              <a:defRPr sz="2000"/>
            </a:pPr>
            <a:r>
              <a:t>Some setups were wicked out and then price moved in the intended direction.</a:t>
            </a:r>
          </a:p>
          <a:p>
            <a:pPr>
              <a:defRPr sz="2000"/>
            </a:pPr>
            <a:r>
              <a:t>Reversal setups appear throughout the year.</a:t>
            </a:r>
          </a:p>
          <a:p>
            <a:pPr>
              <a:defRPr sz="2000"/>
            </a:pPr>
            <a:r>
              <a:t>September includes a shift from BUY observations to SELL observations.</a:t>
            </a:r>
          </a:p>
          <a:p>
            <a:pPr>
              <a:defRPr sz="2000"/>
            </a:pPr>
            <a:r>
              <a:t>October–December contain several SELL-side observations.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the data lets us investigate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BB has more recorded violations than OB in this sample.</a:t>
            </a:r>
          </a:p>
          <a:p>
            <a:pPr>
              <a:defRPr sz="2000"/>
            </a:pPr>
            <a:r>
              <a:t>The log does not tell us whether every non-violated setup became a profitable trade.</a:t>
            </a:r>
          </a:p>
          <a:p>
            <a:pPr>
              <a:defRPr sz="2000"/>
            </a:pPr>
            <a:r>
              <a:t>A violation should be defined precisely: zone violation, structural invalidation, or stop loss?</a:t>
            </a:r>
          </a:p>
          <a:p>
            <a:pPr>
              <a:defRPr sz="2000"/>
            </a:pPr>
            <a:r>
              <a:t>The research needs outcome and R data before a genuine performance comparison can be made.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TRADERS LAB — BACKTESTING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Team-by-team presentation | Gold • EURUSD • GU • BTCUSD • GJ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tonight's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Review what each team actually found.</a:t>
            </a:r>
          </a:p>
          <a:p>
            <a:pPr>
              <a:defRPr sz="2000"/>
            </a:pPr>
            <a:r>
              <a:t>Separate raw observations from conclusions.</a:t>
            </a:r>
          </a:p>
          <a:p>
            <a:pPr>
              <a:defRPr sz="2000"/>
            </a:pPr>
            <a:r>
              <a:t>Identify missing data and inconsistencies.</a:t>
            </a:r>
          </a:p>
          <a:p>
            <a:pPr>
              <a:defRPr sz="2000"/>
            </a:pPr>
            <a:r>
              <a:t>Discuss what the current research can and cannot prove.</a:t>
            </a:r>
          </a:p>
          <a:p>
            <a:pPr>
              <a:defRPr sz="2000"/>
            </a:pPr>
            <a:r>
              <a:t>Agree on the next research standard before adding new ideas.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dataset at a glance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999019"/>
              </p:ext>
            </p:extLst>
          </p:nvPr>
        </p:nvGraphicFramePr>
        <p:xfrm>
          <a:off x="1981200" y="1543568"/>
          <a:ext cx="8362336" cy="4388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0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0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0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0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46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Current research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Main 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46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XAUUSD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Entry outcomes + 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121 records (2024–2025)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46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EURUSD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EURUSD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Entry outcomes + planned 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55 setup records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46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GBPUSD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Setup observations / violations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66 entries (2025)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46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BTCUSD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BTCUSD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POI qualification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32 primary + 2 additional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46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GBPJPY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HTF/structure sequence 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21 setups (2024–25) + 21 (2026)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central lesson from the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We do not yet have one standardized dataset across all five pairs.</a:t>
            </a:r>
          </a:p>
          <a:p>
            <a:pPr>
              <a:defRPr sz="2000"/>
            </a:pPr>
            <a:r>
              <a:t>Some teams measured outcomes; others measured setup quality or market behavior.</a:t>
            </a:r>
          </a:p>
          <a:p>
            <a:pPr>
              <a:defRPr sz="2000"/>
            </a:pPr>
            <a:r>
              <a:t>Therefore, a cross-pair 'best pair' conclusion would be premature.</a:t>
            </a:r>
          </a:p>
          <a:p>
            <a:pPr>
              <a:defRPr sz="2000"/>
            </a:pPr>
            <a:r>
              <a:t>The useful next step is standardization, not changing the strategy immediately.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Proposed master record for every future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Date | Pair | HTF bias | Market phase | Setup type | OB/BB/RB | Direction</a:t>
            </a:r>
          </a:p>
          <a:p>
            <a:pPr>
              <a:defRPr sz="2000"/>
            </a:pPr>
            <a:r>
              <a:t>Liquidity sweep? | BOS? | Momentum? | Unmitigated? | Closest to liquidity?</a:t>
            </a:r>
          </a:p>
          <a:p>
            <a:pPr>
              <a:defRPr sz="2000"/>
            </a:pPr>
            <a:r>
              <a:t>Confirmation | Entry TF | Session | Outcome | Planned RR | Realized R</a:t>
            </a:r>
          </a:p>
          <a:p>
            <a:pPr>
              <a:defRPr sz="2000"/>
            </a:pPr>
            <a:r>
              <a:t>MFE | MAE | Screenshot/link | Reason for failure/miss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Questions I want every team to answer tonight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What did you discover that we did not previously know?</a:t>
            </a:r>
          </a:p>
          <a:p>
            <a:pPr>
              <a:defRPr sz="2000"/>
            </a:pPr>
            <a:r>
              <a:t>Where did the system repeatedly fail?</a:t>
            </a:r>
          </a:p>
          <a:p>
            <a:pPr>
              <a:defRPr sz="2000"/>
            </a:pPr>
            <a:r>
              <a:t>Which conditions appeared before the failures?</a:t>
            </a:r>
          </a:p>
          <a:p>
            <a:pPr>
              <a:defRPr sz="2000"/>
            </a:pPr>
            <a:r>
              <a:t>What information was missing from your records?</a:t>
            </a:r>
          </a:p>
          <a:p>
            <a:pPr>
              <a:defRPr sz="2000"/>
            </a:pPr>
            <a:r>
              <a:t>What single thing should we test next — and why?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22</TotalTime>
  <Words>1675</Words>
  <Application>Microsoft Office PowerPoint</Application>
  <PresentationFormat>Widescreen</PresentationFormat>
  <Paragraphs>349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Candara</vt:lpstr>
      <vt:lpstr>Film Burn</vt:lpstr>
      <vt:lpstr>Traders Lab — Gold Team</vt:lpstr>
      <vt:lpstr> What the team researched</vt:lpstr>
      <vt:lpstr> Raw results</vt:lpstr>
      <vt:lpstr> 2024: setup breakdown</vt:lpstr>
      <vt:lpstr>2024: timeframe &amp; session snapshot</vt:lpstr>
      <vt:lpstr>What the data gives us to investigate</vt:lpstr>
      <vt:lpstr>Traders Lab — EURUSD Team</vt:lpstr>
      <vt:lpstr>Research scope</vt:lpstr>
      <vt:lpstr>Result summary</vt:lpstr>
      <vt:lpstr>Daily bias vs direction</vt:lpstr>
      <vt:lpstr>Risk:Reward data</vt:lpstr>
      <vt:lpstr>What stands out</vt:lpstr>
      <vt:lpstr>Traders Lab — GBPJPY Team</vt:lpstr>
      <vt:lpstr>Research scope</vt:lpstr>
      <vt:lpstr> 2024–2025 setup summary</vt:lpstr>
      <vt:lpstr>2026 setup summary</vt:lpstr>
      <vt:lpstr>Structural story in the notes</vt:lpstr>
      <vt:lpstr>What stands out</vt:lpstr>
      <vt:lpstr>Traders Lab — BTCUSD Team</vt:lpstr>
      <vt:lpstr>Research framework</vt:lpstr>
      <vt:lpstr>Primary POI sample</vt:lpstr>
      <vt:lpstr>Criteria frequency in the 32 primary POIs</vt:lpstr>
      <vt:lpstr>Important distinction</vt:lpstr>
      <vt:lpstr>What stands out</vt:lpstr>
      <vt:lpstr>Traders Lab — GU Team</vt:lpstr>
      <vt:lpstr>Research scope</vt:lpstr>
      <vt:lpstr>Raw observation summary</vt:lpstr>
      <vt:lpstr>Violation snapshot</vt:lpstr>
      <vt:lpstr>Market-behavior notes recorded by the team</vt:lpstr>
      <vt:lpstr>What the data lets us investigate</vt:lpstr>
      <vt:lpstr>TRADERS LAB — BACKTESTING REVIEW</vt:lpstr>
      <vt:lpstr>Purpose of tonight's meeting</vt:lpstr>
      <vt:lpstr>Current dataset at a glance</vt:lpstr>
      <vt:lpstr>The central lesson from the research</vt:lpstr>
      <vt:lpstr>Proposed master record for every future setup</vt:lpstr>
      <vt:lpstr>Questions I want every team to answer tonight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Emmanuel John</cp:lastModifiedBy>
  <cp:revision>5</cp:revision>
  <dcterms:created xsi:type="dcterms:W3CDTF">2013-01-27T09:14:16Z</dcterms:created>
  <dcterms:modified xsi:type="dcterms:W3CDTF">2026-10-03T15:33:45Z</dcterms:modified>
  <cp:category/>
</cp:coreProperties>
</file>